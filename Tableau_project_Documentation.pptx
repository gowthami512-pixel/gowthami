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9B8C17-ED4E-41A0-98EE-1E49EC77E198}" v="4" dt="2025-12-18T09:29:32.4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wthami Suvvari" userId="1966826c6c7ee455" providerId="LiveId" clId="{808A992D-6CD0-4300-8117-8B89EAC74B58}"/>
    <pc:docChg chg="undo custSel modSld">
      <pc:chgData name="Gowthami Suvvari" userId="1966826c6c7ee455" providerId="LiveId" clId="{808A992D-6CD0-4300-8117-8B89EAC74B58}" dt="2025-12-18T09:30:15.184" v="21" actId="14100"/>
      <pc:docMkLst>
        <pc:docMk/>
      </pc:docMkLst>
      <pc:sldChg chg="addSp delSp modSp mod">
        <pc:chgData name="Gowthami Suvvari" userId="1966826c6c7ee455" providerId="LiveId" clId="{808A992D-6CD0-4300-8117-8B89EAC74B58}" dt="2025-12-18T09:30:15.184" v="21" actId="14100"/>
        <pc:sldMkLst>
          <pc:docMk/>
          <pc:sldMk cId="2244286425" sldId="264"/>
        </pc:sldMkLst>
        <pc:spChg chg="add del mod">
          <ac:chgData name="Gowthami Suvvari" userId="1966826c6c7ee455" providerId="LiveId" clId="{808A992D-6CD0-4300-8117-8B89EAC74B58}" dt="2025-12-18T09:29:50.256" v="17" actId="21"/>
          <ac:spMkLst>
            <pc:docMk/>
            <pc:sldMk cId="2244286425" sldId="264"/>
            <ac:spMk id="2" creationId="{A64C6EE2-47B6-5E92-CC2D-38BA57342D75}"/>
          </ac:spMkLst>
        </pc:spChg>
        <pc:spChg chg="add del mod">
          <ac:chgData name="Gowthami Suvvari" userId="1966826c6c7ee455" providerId="LiveId" clId="{808A992D-6CD0-4300-8117-8B89EAC74B58}" dt="2025-12-18T09:30:15.184" v="21" actId="14100"/>
          <ac:spMkLst>
            <pc:docMk/>
            <pc:sldMk cId="2244286425" sldId="264"/>
            <ac:spMk id="3" creationId="{82F1E4D0-E194-B8FD-AA42-07E6D1694E75}"/>
          </ac:spMkLst>
        </pc:spChg>
        <pc:spChg chg="add mod">
          <ac:chgData name="Gowthami Suvvari" userId="1966826c6c7ee455" providerId="LiveId" clId="{808A992D-6CD0-4300-8117-8B89EAC74B58}" dt="2025-12-18T09:29:32.470" v="9"/>
          <ac:spMkLst>
            <pc:docMk/>
            <pc:sldMk cId="2244286425" sldId="264"/>
            <ac:spMk id="4" creationId="{A64C6EE2-47B6-5E92-CC2D-38BA57342D7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B166E-0E33-119D-307F-27A5D0951B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DAE949-4985-4730-15ED-6BEEE3C3DB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875BD-A51A-E2B6-0D7E-6F09C5BF9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2D407-79F7-41C9-ADF4-98B3E3200E37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A899F-A0CD-72E1-7631-4D1D76021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9BE7-DB1F-6B11-515F-CB3671901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BBC6E-DB05-43AF-B202-0E2277194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4192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41E86-8390-4DF3-4147-7031BCF50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ED330-D1F6-5423-26B4-753046B1E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C6748-820F-73C5-92DA-042EEA833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2D407-79F7-41C9-ADF4-98B3E3200E37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945F8-81F5-37E8-2883-94AA020BF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8E8E9-D9CC-441A-CDAF-9415EC2B7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BBC6E-DB05-43AF-B202-0E2277194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5136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78CE7-249D-16B8-288B-FFCA32F5F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3C5B34-5C2C-1F28-5792-A8AFA3B4E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BCFFA-3586-58A0-CF32-DB8BC2138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2D407-79F7-41C9-ADF4-98B3E3200E37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B1ED-A07C-A40C-F494-08FCB6D10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A677D-56B3-9E22-9A34-476B4D157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BBC6E-DB05-43AF-B202-0E2277194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2752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E4783-BB83-BF84-893C-C66C8ECF0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684FF-A127-89D5-0ED3-10635CC304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C711D6-4122-A411-8174-1434221054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148F40-7B07-C1A9-44E1-CC37FE87A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2D407-79F7-41C9-ADF4-98B3E3200E37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42F36B-4AFB-4ECE-A6C8-D11887E07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A8633A-3679-64C5-C5A0-1E1AE8ABC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BBC6E-DB05-43AF-B202-0E2277194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985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47073-C6CA-EEAE-D919-E7E91B5BE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AF86E-DBAB-1D75-DE68-A4CA55553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D932A6-5208-FF17-57CC-4A382C4191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FE8835-45DC-20A1-EB24-2F9C6DA7A5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ADE1B9-7AF4-9F17-D87C-0688FA402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3AA0F2-973A-2ADB-E2F7-BFF9486C6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2D407-79F7-41C9-ADF4-98B3E3200E37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E01C91-C3AF-1D54-03A6-29A1BC444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3A9FD8-BA9F-EDD8-ACE2-810BEE8C0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BBC6E-DB05-43AF-B202-0E2277194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4154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2D498-CCC0-DD7C-9950-12EA02829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924BD7-7ED2-FB92-D4BC-09AD8D064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2D407-79F7-41C9-ADF4-98B3E3200E37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B110D2-B812-BF79-F783-6CEAC3E89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B9A68A-136E-8B64-9184-FA25C5398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BBC6E-DB05-43AF-B202-0E2277194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8960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933A1-9684-1792-2908-A5560E941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2D407-79F7-41C9-ADF4-98B3E3200E37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724433-53EC-803D-763B-2CAC59A20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54865A-01CE-78B7-F55A-7D62B90A2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BBC6E-DB05-43AF-B202-0E2277194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834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86ACC-7ADE-4E28-1D86-A7EFEAF17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1F331-A210-B360-A86E-287C76118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46C845-6F68-921D-7FB2-BD9D307348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B954F0-9808-23DD-3FED-6C18F764D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2D407-79F7-41C9-ADF4-98B3E3200E37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3C455C-FCE1-47C7-E9E6-C6326CCF7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15C579-B431-1177-9F6B-0E2D7249E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BBC6E-DB05-43AF-B202-0E2277194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7064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6E7B9-5861-687B-E3C2-9BCC897B5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21F168-F61D-9084-3FE2-F7ED71F767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E928BA-2355-84F2-5E43-F1F2129B37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E3EE9-B20A-4917-9EF3-481C250B4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2D407-79F7-41C9-ADF4-98B3E3200E37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929E2A-293A-A6DB-ED5C-10D3CAE1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88F748-D2D0-1E9F-26FD-7FF6EBFAE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BBC6E-DB05-43AF-B202-0E2277194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9444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0A7DA-3F6B-5BFE-968D-AE80516B3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529BC3-601F-A73A-7B4D-EA9582DD62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10C81-496A-6A18-4B00-8ED9D8AA9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2D407-79F7-41C9-ADF4-98B3E3200E37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C5955-79FD-0712-6B54-C20747DAC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6783C-133A-88CC-6021-AC8428272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BBC6E-DB05-43AF-B202-0E2277194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601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5FA4DC-166A-C3BE-5229-0A48CA2B37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05403C-D699-CC92-E905-12A44528FE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67B18B-57D3-14E2-6B40-0385D84DA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2D407-79F7-41C9-ADF4-98B3E3200E37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53264-95B8-FE00-41CC-3C62114D3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29DCF-D678-4981-A45C-F0ECA2806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BBC6E-DB05-43AF-B202-0E2277194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762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8135C7-E9FB-DF3A-C2B0-B4E927BA2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3F3661-F046-C9D2-03F1-87B71ACC88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0789E-2159-D01B-83F7-614D0E96BD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B2D407-79F7-41C9-ADF4-98B3E3200E37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0F037-1420-A583-3EE4-B2FF1D768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C217B-6EF4-5BFE-2B49-165E3CC9B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ABBC6E-DB05-43AF-B202-0E2277194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532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4E955-2F92-2FD4-A99D-26E6E5DD9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8426"/>
            <a:ext cx="10515600" cy="527009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endParaRPr lang="en-US" sz="6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sz="6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6000" b="1" dirty="0">
                <a:latin typeface="Arial" panose="020B0604020202020204" pitchFamily="34" charset="0"/>
                <a:cs typeface="Arial" panose="020B0604020202020204" pitchFamily="34" charset="0"/>
              </a:rPr>
              <a:t>TABLEAU PROJECT DOCUMENTATION</a:t>
            </a:r>
          </a:p>
          <a:p>
            <a:pPr marL="0" indent="0">
              <a:buNone/>
            </a:pPr>
            <a:r>
              <a:rPr lang="en-US" sz="4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</a:t>
            </a:r>
          </a:p>
          <a:p>
            <a:pPr marL="0" indent="0">
              <a:buNone/>
            </a:pPr>
            <a:r>
              <a:rPr lang="en-US" sz="4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</a:t>
            </a:r>
            <a:r>
              <a:rPr lang="en-US" sz="43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Presented by</a:t>
            </a:r>
          </a:p>
          <a:p>
            <a:pPr marL="0" indent="0">
              <a:buNone/>
            </a:pPr>
            <a:r>
              <a:rPr lang="en-US" sz="43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</a:t>
            </a:r>
            <a:r>
              <a:rPr lang="en-US" sz="43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S.Gowthami</a:t>
            </a:r>
            <a:r>
              <a:rPr lang="en-US" sz="43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IN" sz="4300" b="1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endParaRPr lang="en-IN" sz="43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2813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BB32A-DFA3-55AB-A2B5-4BC3423348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133599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Arial Black" panose="020B0A04020102020204" pitchFamily="34" charset="0"/>
              </a:rPr>
              <a:t>Sales Dashboard Overview</a:t>
            </a:r>
            <a:endParaRPr lang="en-IN" sz="5400" b="1" dirty="0"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D39CB8-4B78-7C45-E770-AADEC4E75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7355" y="3212577"/>
            <a:ext cx="9144000" cy="1838746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</a:t>
            </a:r>
          </a:p>
          <a:p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</a:t>
            </a:r>
            <a:endParaRPr lang="en-IN" sz="3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Find the right app | Microsoft AppSource">
            <a:extLst>
              <a:ext uri="{FF2B5EF4-FFF2-40B4-BE49-F238E27FC236}">
                <a16:creationId xmlns:a16="http://schemas.microsoft.com/office/drawing/2014/main" id="{3401545B-6ADD-1A03-83AC-E7430ACA8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8426" y="3507430"/>
            <a:ext cx="2057400" cy="1838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2073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378B2-7B19-CFB1-FDBB-BEA6E3242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78539"/>
          </a:xfrm>
        </p:spPr>
        <p:txBody>
          <a:bodyPr/>
          <a:lstStyle/>
          <a:p>
            <a:r>
              <a:rPr lang="en-US" b="1" dirty="0">
                <a:latin typeface="Arial Black" panose="020B0A04020102020204" pitchFamily="34" charset="0"/>
              </a:rPr>
              <a:t>                    </a:t>
            </a:r>
            <a:r>
              <a:rPr lang="en-US" sz="4800" b="1" dirty="0">
                <a:latin typeface="Arial Black" panose="020B0A04020102020204" pitchFamily="34" charset="0"/>
              </a:rPr>
              <a:t>Abstract</a:t>
            </a:r>
            <a:endParaRPr lang="en-IN" sz="4800" b="1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93413-90C6-D948-C98C-67F224790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3664"/>
            <a:ext cx="10515600" cy="51029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         The purpose of this project is to design an interactive </a:t>
            </a:r>
            <a:r>
              <a:rPr lang="en-US" sz="3600" b="1" dirty="0"/>
              <a:t>Sales Dashboard</a:t>
            </a:r>
            <a:r>
              <a:rPr lang="en-US" sz="3600" dirty="0"/>
              <a:t> in Tableau that helps stakeholders monitor key business metrics such as total sales, profit, quantity sold, customer trends, and regional performance.</a:t>
            </a:r>
            <a:br>
              <a:rPr lang="en-US" sz="3600" dirty="0"/>
            </a:br>
            <a:r>
              <a:rPr lang="en-US" sz="3600" dirty="0"/>
              <a:t>         The dashboard aims to simplify decision-making by providing clear visual insights, enabling managers to identify top-performing products, profitable regions, and areas needing improvement.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603417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7BA2E-7D1B-3A31-386E-F3F9BE7F6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819"/>
            <a:ext cx="10515600" cy="796413"/>
          </a:xfrm>
        </p:spPr>
        <p:txBody>
          <a:bodyPr/>
          <a:lstStyle/>
          <a:p>
            <a:r>
              <a:rPr lang="en-IN" b="1" dirty="0">
                <a:latin typeface="Arial Black" panose="020B0A04020102020204" pitchFamily="34" charset="0"/>
              </a:rPr>
              <a:t>      Data Sources &amp;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347AD-9D13-DFD4-059C-886CD1CA1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4232"/>
            <a:ext cx="10515600" cy="56928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Data Sources </a:t>
            </a:r>
          </a:p>
          <a:p>
            <a:pPr marL="0" indent="0">
              <a:buNone/>
            </a:pPr>
            <a:r>
              <a:rPr lang="en-US" sz="2400" b="1" dirty="0"/>
              <a:t>         Primary Dataset :</a:t>
            </a:r>
            <a:r>
              <a:rPr lang="en-US" sz="2400" dirty="0"/>
              <a:t> Sales dataset (CSV/Excel/Tableau Extract).</a:t>
            </a:r>
          </a:p>
          <a:p>
            <a:pPr marL="0" indent="0">
              <a:buNone/>
            </a:pPr>
            <a:r>
              <a:rPr lang="en-US" sz="2400" b="1" dirty="0"/>
              <a:t>         Provided By :</a:t>
            </a:r>
            <a:r>
              <a:rPr lang="en-US" sz="2400" dirty="0"/>
              <a:t> Company business analytics team / Kaggle sample dataset / self-created.</a:t>
            </a:r>
          </a:p>
          <a:p>
            <a:pPr marL="0" indent="0">
              <a:buNone/>
            </a:pPr>
            <a:r>
              <a:rPr lang="en-US" sz="2400" b="1" dirty="0"/>
              <a:t>        Data Period :</a:t>
            </a:r>
            <a:r>
              <a:rPr lang="en-US" sz="2400" dirty="0"/>
              <a:t> (Specify: e.g., 2020–2023)</a:t>
            </a:r>
          </a:p>
          <a:p>
            <a:pPr marL="0" indent="0">
              <a:buNone/>
            </a:pPr>
            <a:r>
              <a:rPr lang="en-US" sz="2400" b="1" dirty="0"/>
              <a:t>        Data Size :</a:t>
            </a:r>
            <a:r>
              <a:rPr lang="en-US" sz="2400" dirty="0"/>
              <a:t> Number of rows and columns.</a:t>
            </a:r>
          </a:p>
          <a:p>
            <a:pPr marL="0" indent="0">
              <a:buNone/>
            </a:pPr>
            <a:r>
              <a:rPr lang="en-US" sz="2400" b="1" dirty="0"/>
              <a:t>Data Fields Description</a:t>
            </a:r>
          </a:p>
          <a:p>
            <a:pPr marL="0" indent="0">
              <a:buNone/>
            </a:pPr>
            <a:r>
              <a:rPr lang="en-US" sz="2400" dirty="0"/>
              <a:t>     Typical fields included in the dataset:</a:t>
            </a:r>
          </a:p>
          <a:p>
            <a:pPr marL="0" indent="0">
              <a:buNone/>
            </a:pPr>
            <a:r>
              <a:rPr lang="en-US" sz="2400" b="1" dirty="0"/>
              <a:t>                    Order Details:</a:t>
            </a:r>
            <a:r>
              <a:rPr lang="en-US" sz="2400" dirty="0"/>
              <a:t> Order ID, Order Date, Ship Date, Ship Mode</a:t>
            </a:r>
          </a:p>
          <a:p>
            <a:pPr marL="0" indent="0">
              <a:buNone/>
            </a:pPr>
            <a:r>
              <a:rPr lang="en-US" sz="2400" b="1" dirty="0"/>
              <a:t>                    Customer Information:</a:t>
            </a:r>
            <a:r>
              <a:rPr lang="en-US" sz="2400" dirty="0"/>
              <a:t> Customer Name, Segment, Country, Region, State, City</a:t>
            </a:r>
          </a:p>
          <a:p>
            <a:pPr marL="0" indent="0">
              <a:buNone/>
            </a:pPr>
            <a:r>
              <a:rPr lang="en-US" sz="2400" b="1" dirty="0"/>
              <a:t>                    Product Information:</a:t>
            </a:r>
            <a:r>
              <a:rPr lang="en-US" sz="2400" dirty="0"/>
              <a:t> Category, Sub-category, Product Name</a:t>
            </a:r>
          </a:p>
          <a:p>
            <a:pPr marL="0" indent="0">
              <a:buNone/>
            </a:pPr>
            <a:r>
              <a:rPr lang="en-US" sz="2400" b="1" dirty="0"/>
              <a:t>                    Sales Metrics:</a:t>
            </a:r>
            <a:r>
              <a:rPr lang="en-US" sz="2400" dirty="0"/>
              <a:t> Sales, Quantity, Discount, Profit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735245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0FD23-28D4-6752-EE62-8F56EE417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658"/>
            <a:ext cx="10515600" cy="45743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Data Cleaning &amp; Preparation</a:t>
            </a:r>
          </a:p>
          <a:p>
            <a:pPr marL="0" indent="0">
              <a:buNone/>
            </a:pPr>
            <a:r>
              <a:rPr lang="en-US" sz="2400" dirty="0"/>
              <a:t>         Removed null or missing values in key metrics.</a:t>
            </a:r>
          </a:p>
          <a:p>
            <a:pPr marL="0" indent="0">
              <a:buNone/>
            </a:pPr>
            <a:r>
              <a:rPr lang="en-US" sz="2400" dirty="0"/>
              <a:t>         Standardized date formats (converted Order Date to </a:t>
            </a:r>
            <a:r>
              <a:rPr lang="en-US" sz="2400" dirty="0" err="1"/>
              <a:t>yyyy</a:t>
            </a:r>
            <a:r>
              <a:rPr lang="en-US" sz="2400" dirty="0"/>
              <a:t>-mm-dd).</a:t>
            </a:r>
          </a:p>
          <a:p>
            <a:pPr marL="0" indent="0">
              <a:buNone/>
            </a:pPr>
            <a:r>
              <a:rPr lang="en-US" sz="2400" dirty="0"/>
              <a:t>         Created calculated fields such as:</a:t>
            </a:r>
          </a:p>
          <a:p>
            <a:pPr marL="457200" lvl="1" indent="0">
              <a:buNone/>
            </a:pPr>
            <a:r>
              <a:rPr lang="en-US" dirty="0"/>
              <a:t>                            Profit Ratio = Profit / Sales</a:t>
            </a:r>
          </a:p>
          <a:p>
            <a:pPr marL="457200" lvl="1" indent="0">
              <a:buNone/>
            </a:pPr>
            <a:r>
              <a:rPr lang="en-US" dirty="0"/>
              <a:t>                            Sales Bucket = Category-wise or region-wise grouping</a:t>
            </a:r>
          </a:p>
          <a:p>
            <a:pPr marL="0" indent="0">
              <a:buNone/>
            </a:pPr>
            <a:r>
              <a:rPr lang="en-US" sz="2400" dirty="0"/>
              <a:t>        Joined or blended data if multiple sources were used.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92026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8092E-206E-1F66-94F4-1B973040C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982"/>
            <a:ext cx="10515600" cy="835742"/>
          </a:xfrm>
        </p:spPr>
        <p:txBody>
          <a:bodyPr/>
          <a:lstStyle/>
          <a:p>
            <a:r>
              <a:rPr lang="en-IN" b="1" dirty="0">
                <a:latin typeface="Arial Black" panose="020B0A04020102020204" pitchFamily="34" charset="0"/>
              </a:rPr>
              <a:t>      Methodology &amp;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41CC3-E233-829A-A73A-5A5E07E94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2724"/>
            <a:ext cx="10515600" cy="56682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Approach</a:t>
            </a:r>
          </a:p>
          <a:p>
            <a:pPr marL="0" indent="0">
              <a:buNone/>
            </a:pPr>
            <a:r>
              <a:rPr lang="en-US" sz="2000" b="1" dirty="0"/>
              <a:t>         Understand business objectives</a:t>
            </a:r>
            <a:r>
              <a:rPr lang="en-US" sz="2000" dirty="0"/>
              <a:t> – identify KPIs required by management.</a:t>
            </a:r>
          </a:p>
          <a:p>
            <a:pPr marL="0" indent="0">
              <a:buNone/>
            </a:pPr>
            <a:r>
              <a:rPr lang="en-US" sz="2000" b="1" dirty="0"/>
              <a:t>         Data cleaning &amp; transformation</a:t>
            </a:r>
            <a:r>
              <a:rPr lang="en-US" sz="2000" dirty="0"/>
              <a:t> using Tableau Prep or Tableau Desktop.</a:t>
            </a:r>
          </a:p>
          <a:p>
            <a:pPr marL="0" indent="0">
              <a:buNone/>
            </a:pPr>
            <a:r>
              <a:rPr lang="en-US" sz="2000" b="1" dirty="0"/>
              <a:t>         Exploratory Data Analysis (EDA)</a:t>
            </a:r>
            <a:r>
              <a:rPr lang="en-US" sz="2000" dirty="0"/>
              <a:t> to identify patterns.</a:t>
            </a:r>
          </a:p>
          <a:p>
            <a:pPr marL="0" indent="0">
              <a:buNone/>
            </a:pPr>
            <a:r>
              <a:rPr lang="en-US" sz="2000" b="1" dirty="0"/>
              <a:t>         Build worksheets</a:t>
            </a:r>
            <a:r>
              <a:rPr lang="en-US" sz="2000" dirty="0"/>
              <a:t> (charts) covering different aspects of sales.</a:t>
            </a:r>
          </a:p>
          <a:p>
            <a:pPr marL="0" indent="0">
              <a:buNone/>
            </a:pPr>
            <a:r>
              <a:rPr lang="en-US" sz="2000" b="1" dirty="0"/>
              <a:t>         </a:t>
            </a:r>
            <a:r>
              <a:rPr lang="en-US" sz="2000" dirty="0"/>
              <a:t>Combine the sheets into an interactive dashboard.</a:t>
            </a:r>
          </a:p>
          <a:p>
            <a:pPr marL="0" indent="0">
              <a:buNone/>
            </a:pPr>
            <a:r>
              <a:rPr lang="en-US" sz="2000" b="1" dirty="0"/>
              <a:t>Key Analyses Performed</a:t>
            </a:r>
          </a:p>
          <a:p>
            <a:pPr marL="0" indent="0">
              <a:buNone/>
            </a:pPr>
            <a:r>
              <a:rPr lang="en-US" sz="2000" b="1" dirty="0"/>
              <a:t>        Sales Trend Analysis:</a:t>
            </a:r>
            <a:r>
              <a:rPr lang="en-US" sz="2000" dirty="0"/>
              <a:t> Monthly/Yearly trend of Sales and Profit.</a:t>
            </a:r>
          </a:p>
          <a:p>
            <a:pPr marL="0" indent="0">
              <a:buNone/>
            </a:pPr>
            <a:r>
              <a:rPr lang="en-US" sz="2000" b="1" dirty="0"/>
              <a:t>        Category &amp; Sub-category Performance:</a:t>
            </a:r>
            <a:r>
              <a:rPr lang="en-US" sz="2000" dirty="0"/>
              <a:t> Identifying best and worst performing product ranges.</a:t>
            </a:r>
          </a:p>
          <a:p>
            <a:pPr marL="0" indent="0">
              <a:buNone/>
            </a:pPr>
            <a:r>
              <a:rPr lang="en-US" sz="2000" b="1" dirty="0"/>
              <a:t>        Regional Analysis:</a:t>
            </a:r>
            <a:r>
              <a:rPr lang="en-US" sz="2000" dirty="0"/>
              <a:t> Sales by Region, State, and City.</a:t>
            </a:r>
          </a:p>
          <a:p>
            <a:pPr marL="0" indent="0">
              <a:buNone/>
            </a:pPr>
            <a:r>
              <a:rPr lang="en-US" sz="2000" b="1" dirty="0"/>
              <a:t>        Customer Analysis:</a:t>
            </a:r>
            <a:r>
              <a:rPr lang="en-US" sz="2000" dirty="0"/>
              <a:t> Segment-wise performance (Consumer, Corporate, Home Office).</a:t>
            </a:r>
          </a:p>
          <a:p>
            <a:pPr marL="0" indent="0">
              <a:buNone/>
            </a:pPr>
            <a:r>
              <a:rPr lang="en-US" sz="2000" b="1" dirty="0"/>
              <a:t>        Profitability Analysis:</a:t>
            </a:r>
            <a:r>
              <a:rPr lang="en-US" sz="2000" dirty="0"/>
              <a:t> High-profit vs. high-sales products.</a:t>
            </a:r>
          </a:p>
          <a:p>
            <a:pPr marL="0" indent="0">
              <a:buNone/>
            </a:pPr>
            <a:r>
              <a:rPr lang="en-US" sz="2000" b="1" dirty="0"/>
              <a:t>        Discount Impact Analysis:</a:t>
            </a:r>
            <a:r>
              <a:rPr lang="en-US" sz="2000" dirty="0"/>
              <a:t> Effect of discount on profit margins.</a:t>
            </a:r>
          </a:p>
          <a:p>
            <a:pPr marL="0" indent="0">
              <a:buNone/>
            </a:pPr>
            <a:r>
              <a:rPr lang="en-US" sz="2000" b="1" dirty="0"/>
              <a:t>        Top N Analysis:</a:t>
            </a:r>
            <a:r>
              <a:rPr lang="en-US" sz="2000" dirty="0"/>
              <a:t> Top 10 customers, products, or cities by Sales/Profit.</a:t>
            </a: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12609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43E15-BA79-73A0-BE04-D8465A4EA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8426"/>
            <a:ext cx="10515600" cy="549853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b="1" dirty="0"/>
              <a:t>Visualizations Used</a:t>
            </a:r>
          </a:p>
          <a:p>
            <a:pPr marL="0" indent="0">
              <a:buNone/>
            </a:pPr>
            <a:r>
              <a:rPr lang="en-US" sz="3600" dirty="0"/>
              <a:t>          Line charts for time series</a:t>
            </a:r>
          </a:p>
          <a:p>
            <a:pPr marL="0" indent="0">
              <a:buNone/>
            </a:pPr>
            <a:r>
              <a:rPr lang="en-US" sz="3600" dirty="0"/>
              <a:t>          Bar charts for category, sub-category performance</a:t>
            </a:r>
          </a:p>
          <a:p>
            <a:pPr marL="0" indent="0">
              <a:buNone/>
            </a:pPr>
            <a:r>
              <a:rPr lang="en-US" sz="3600" dirty="0"/>
              <a:t>          Maps for regional performance</a:t>
            </a:r>
          </a:p>
          <a:p>
            <a:pPr marL="0" indent="0">
              <a:buNone/>
            </a:pPr>
            <a:r>
              <a:rPr lang="en-US" sz="3600" dirty="0"/>
              <a:t>          Pie/Donut charts for segment distribution</a:t>
            </a:r>
          </a:p>
          <a:p>
            <a:pPr marL="0" indent="0">
              <a:buNone/>
            </a:pPr>
            <a:r>
              <a:rPr lang="en-US" sz="3600" dirty="0"/>
              <a:t>          Scatter plots for Sales vs Profit relationships</a:t>
            </a:r>
          </a:p>
          <a:p>
            <a:pPr marL="0" indent="0">
              <a:buNone/>
            </a:pPr>
            <a:r>
              <a:rPr lang="en-US" sz="3600" dirty="0"/>
              <a:t>          KPI cards for summary numbers (Total Sales, Total Profit, Avg Discount)</a:t>
            </a:r>
          </a:p>
          <a:p>
            <a:pPr marL="0" indent="0">
              <a:buNone/>
            </a:pP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224409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9BCEC-7357-9747-7B48-774EB6B69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/>
          <a:lstStyle/>
          <a:p>
            <a:r>
              <a:rPr lang="en-IN" b="1" dirty="0">
                <a:latin typeface="Arial Black" panose="020B0A04020102020204" pitchFamily="34" charset="0"/>
              </a:rPr>
              <a:t>                     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7C642-B233-2C6B-2925-490A55753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9200"/>
            <a:ext cx="10515600" cy="536841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Key Findings</a:t>
            </a:r>
          </a:p>
          <a:p>
            <a:pPr marL="0" indent="0">
              <a:buNone/>
            </a:pPr>
            <a:r>
              <a:rPr lang="en-US" dirty="0"/>
              <a:t>     (Examples – update based on your actual dashboard output)</a:t>
            </a:r>
          </a:p>
          <a:p>
            <a:pPr marL="0" indent="0">
              <a:buNone/>
            </a:pPr>
            <a:r>
              <a:rPr lang="en-US" b="1" dirty="0"/>
              <a:t>1) Sales showed a consistent upward trend</a:t>
            </a:r>
            <a:r>
              <a:rPr lang="en-US" dirty="0"/>
              <a:t>, especially during Q4 each year.</a:t>
            </a:r>
          </a:p>
          <a:p>
            <a:pPr marL="0" indent="0">
              <a:buNone/>
            </a:pPr>
            <a:r>
              <a:rPr lang="en-US" b="1" dirty="0"/>
              <a:t>2) Technology Category contributed the highest sales</a:t>
            </a:r>
            <a:r>
              <a:rPr lang="en-US" dirty="0"/>
              <a:t>, while Furniture had lower profitability.</a:t>
            </a:r>
          </a:p>
          <a:p>
            <a:pPr marL="0" indent="0">
              <a:buNone/>
            </a:pPr>
            <a:r>
              <a:rPr lang="en-US" b="1" dirty="0"/>
              <a:t>3) The Western region performed the best</a:t>
            </a:r>
            <a:r>
              <a:rPr lang="en-US" dirty="0"/>
              <a:t>, whereas the South region showed low profit margins.</a:t>
            </a:r>
          </a:p>
          <a:p>
            <a:pPr marL="0" indent="0">
              <a:buNone/>
            </a:pPr>
            <a:r>
              <a:rPr lang="en-US" b="1" dirty="0"/>
              <a:t>4) High discounts correlated with lower profit</a:t>
            </a:r>
            <a:r>
              <a:rPr lang="en-US" dirty="0"/>
              <a:t>, especially in Furniture.</a:t>
            </a:r>
          </a:p>
          <a:p>
            <a:pPr marL="0" indent="0">
              <a:buNone/>
            </a:pPr>
            <a:r>
              <a:rPr lang="en-US" b="1" dirty="0"/>
              <a:t>5) Top customers contributed a significant portion of revenue</a:t>
            </a:r>
            <a:r>
              <a:rPr lang="en-US" dirty="0"/>
              <a:t>, indicating a power-law distribution.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5443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1E4D0-E194-B8FD-AA42-07E6D1694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4" y="717755"/>
            <a:ext cx="10515600" cy="53684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b="1" dirty="0"/>
              <a:t>Insights from Dashboard</a:t>
            </a:r>
          </a:p>
          <a:p>
            <a:pPr marL="0" indent="0">
              <a:buNone/>
            </a:pPr>
            <a:r>
              <a:rPr lang="en-US" sz="3600" dirty="0"/>
              <a:t>    1) Stakeholders can identify problem regions quickly.</a:t>
            </a:r>
          </a:p>
          <a:p>
            <a:pPr marL="0" indent="0">
              <a:buNone/>
            </a:pPr>
            <a:r>
              <a:rPr lang="en-US" sz="3600" dirty="0"/>
              <a:t>    2) Category managers can track product performance and adjust pricing.</a:t>
            </a:r>
          </a:p>
          <a:p>
            <a:pPr marL="0" indent="0">
              <a:buNone/>
            </a:pPr>
            <a:r>
              <a:rPr lang="en-US" sz="3600" dirty="0"/>
              <a:t>    3) Discounts strategy can be optimized to avoid profit loss.</a:t>
            </a:r>
          </a:p>
          <a:p>
            <a:pPr marL="0" indent="0">
              <a:buNone/>
            </a:pPr>
            <a:r>
              <a:rPr lang="en-US" sz="3600" dirty="0"/>
              <a:t>    4) Resource allocation can be improved based on region-wise demand.</a:t>
            </a:r>
          </a:p>
          <a:p>
            <a:pPr marL="0" indent="0">
              <a:buNone/>
            </a:pP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244286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18DF5-BAB3-5556-B9F4-6637495F1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4914"/>
          </a:xfrm>
        </p:spPr>
        <p:txBody>
          <a:bodyPr/>
          <a:lstStyle/>
          <a:p>
            <a:r>
              <a:rPr lang="en-IN" b="1" dirty="0">
                <a:latin typeface="Arial Black" panose="020B0A04020102020204" pitchFamily="34" charset="0"/>
              </a:rPr>
              <a:t>           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B0AEB-4C61-C1DF-453F-FF5992F59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0040"/>
            <a:ext cx="10515600" cy="54863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Business Recommendations</a:t>
            </a:r>
          </a:p>
          <a:p>
            <a:pPr marL="0" indent="0">
              <a:buNone/>
            </a:pPr>
            <a:r>
              <a:rPr lang="en-US" sz="2400" b="1" dirty="0"/>
              <a:t>      Reduce discounts</a:t>
            </a:r>
            <a:r>
              <a:rPr lang="en-US" sz="2400" dirty="0"/>
              <a:t> on low-profit product categories.</a:t>
            </a:r>
          </a:p>
          <a:p>
            <a:pPr marL="0" indent="0">
              <a:buNone/>
            </a:pPr>
            <a:r>
              <a:rPr lang="en-US" sz="2400" b="1" dirty="0"/>
              <a:t>      Improve marketing</a:t>
            </a:r>
            <a:r>
              <a:rPr lang="en-US" sz="2400" dirty="0"/>
              <a:t> in underperforming regions to boost sales.</a:t>
            </a:r>
          </a:p>
          <a:p>
            <a:pPr marL="0" indent="0">
              <a:buNone/>
            </a:pPr>
            <a:r>
              <a:rPr lang="en-US" sz="2400" b="1" dirty="0"/>
              <a:t>      Focus on high-profit sub-categories</a:t>
            </a:r>
            <a:r>
              <a:rPr lang="en-US" sz="2400" dirty="0"/>
              <a:t> such as technology accessories.</a:t>
            </a:r>
          </a:p>
          <a:p>
            <a:pPr marL="0" indent="0">
              <a:buNone/>
            </a:pPr>
            <a:r>
              <a:rPr lang="en-US" sz="2400" b="1" dirty="0"/>
              <a:t>      Enhance supply chain efficiency</a:t>
            </a:r>
            <a:r>
              <a:rPr lang="en-US" sz="2400" dirty="0"/>
              <a:t> for high-demand locations.</a:t>
            </a:r>
          </a:p>
          <a:p>
            <a:pPr marL="0" indent="0">
              <a:buNone/>
            </a:pPr>
            <a:r>
              <a:rPr lang="en-US" sz="2400" b="1" dirty="0"/>
              <a:t>      Customer retention strategies</a:t>
            </a:r>
            <a:r>
              <a:rPr lang="en-US" sz="2400" dirty="0"/>
              <a:t> for top customers to increase lifetime value.</a:t>
            </a:r>
          </a:p>
          <a:p>
            <a:pPr marL="0" indent="0">
              <a:buNone/>
            </a:pPr>
            <a:r>
              <a:rPr lang="en-US" sz="2400" b="1" dirty="0"/>
              <a:t>Future Enhancements</a:t>
            </a:r>
          </a:p>
          <a:p>
            <a:pPr marL="0" indent="0">
              <a:buNone/>
            </a:pPr>
            <a:r>
              <a:rPr lang="en-US" sz="2400" dirty="0"/>
              <a:t>      Introduce forecasting using Tableau (Sales Forecast, Profit Forecast).</a:t>
            </a:r>
          </a:p>
          <a:p>
            <a:pPr marL="0" indent="0">
              <a:buNone/>
            </a:pPr>
            <a:r>
              <a:rPr lang="en-US" sz="2400" dirty="0"/>
              <a:t>      Add dashboard alerts for sudden drops in sales or profit.</a:t>
            </a:r>
          </a:p>
          <a:p>
            <a:pPr marL="0" indent="0">
              <a:buNone/>
            </a:pPr>
            <a:r>
              <a:rPr lang="en-US" sz="2400" dirty="0"/>
              <a:t>      Integrate real-time live data connection for dynamic updates.</a:t>
            </a:r>
          </a:p>
          <a:p>
            <a:pPr marL="0" indent="0">
              <a:buNone/>
            </a:pPr>
            <a:r>
              <a:rPr lang="en-US" sz="2400" dirty="0"/>
              <a:t>      Build separate dashboards for Retail, Wholesale, and Corporate segments.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19974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FDD08-E9F2-C91C-A189-A9691B28D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2901"/>
          </a:xfrm>
        </p:spPr>
        <p:txBody>
          <a:bodyPr>
            <a:normAutofit/>
          </a:bodyPr>
          <a:lstStyle/>
          <a:p>
            <a:r>
              <a:rPr lang="en-IN" sz="4800" b="1" dirty="0">
                <a:latin typeface="Arial Black" panose="020B0A04020102020204" pitchFamily="34" charset="0"/>
              </a:rPr>
              <a:t>               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B0033-54C1-0085-0587-420699094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6852"/>
            <a:ext cx="10515600" cy="48201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dirty="0"/>
              <a:t>      This Tableau Sales Dashboard provides a complete visual overview of business performance. It helps stakeholders analyze trends, identify growth opportunities, and make data-driven decisions. With further enhancements, the dashboard can evolve into a powerful analytics tool for strategic planning.</a:t>
            </a:r>
          </a:p>
          <a:p>
            <a:pPr marL="0" indent="0">
              <a:buNone/>
            </a:pP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459819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2DB9DD-F5DA-C22E-DF7F-F688C87FFE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34298"/>
            <a:ext cx="10515600" cy="5947668"/>
          </a:xfrm>
        </p:spPr>
      </p:pic>
    </p:spTree>
    <p:extLst>
      <p:ext uri="{BB962C8B-B14F-4D97-AF65-F5344CB8AC3E}">
        <p14:creationId xmlns:p14="http://schemas.microsoft.com/office/powerpoint/2010/main" val="3400432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308BF-B8C7-9B41-9B23-2006F2331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6077"/>
            <a:ext cx="10515600" cy="536088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b="1" dirty="0">
                <a:latin typeface="Algerian" panose="04020705040A02060702" pitchFamily="82" charset="0"/>
              </a:rPr>
              <a:t>      </a:t>
            </a:r>
          </a:p>
          <a:p>
            <a:pPr marL="0" indent="0" algn="ctr">
              <a:buNone/>
            </a:pPr>
            <a:endParaRPr lang="en-US" sz="4400" b="1" dirty="0">
              <a:latin typeface="Algerian" panose="04020705040A02060702" pitchFamily="82" charset="0"/>
            </a:endParaRPr>
          </a:p>
          <a:p>
            <a:pPr marL="0" indent="0" algn="ctr">
              <a:buNone/>
            </a:pPr>
            <a:endParaRPr lang="en-US" sz="4400" b="1" dirty="0">
              <a:latin typeface="Algerian" panose="04020705040A02060702" pitchFamily="82" charset="0"/>
            </a:endParaRPr>
          </a:p>
          <a:p>
            <a:pPr marL="0" indent="0" algn="ctr">
              <a:buNone/>
            </a:pPr>
            <a:r>
              <a:rPr lang="en-US" sz="4400" b="1" dirty="0">
                <a:latin typeface="Algerian" panose="04020705040A02060702" pitchFamily="82" charset="0"/>
              </a:rPr>
              <a:t>  Thank You</a:t>
            </a:r>
            <a:endParaRPr lang="en-IN" sz="44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5494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776</Words>
  <Application>Microsoft Office PowerPoint</Application>
  <PresentationFormat>Widescreen</PresentationFormat>
  <Paragraphs>83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Algerian</vt:lpstr>
      <vt:lpstr>Arial</vt:lpstr>
      <vt:lpstr>Arial Black</vt:lpstr>
      <vt:lpstr>Calibri</vt:lpstr>
      <vt:lpstr>Calibri Light</vt:lpstr>
      <vt:lpstr>Office Theme</vt:lpstr>
      <vt:lpstr>PowerPoint Presentation</vt:lpstr>
      <vt:lpstr>Sales Dashboard Overview</vt:lpstr>
      <vt:lpstr>                    Abstract</vt:lpstr>
      <vt:lpstr>      Data Sources &amp; Description</vt:lpstr>
      <vt:lpstr>PowerPoint Presentation</vt:lpstr>
      <vt:lpstr>      Methodology &amp; Analysis</vt:lpstr>
      <vt:lpstr>PowerPoint Presentation</vt:lpstr>
      <vt:lpstr>                      Results</vt:lpstr>
      <vt:lpstr>PowerPoint Presentation</vt:lpstr>
      <vt:lpstr>            Recommendations</vt:lpstr>
      <vt:lpstr>                Conclusion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Gowthami Suvvari</dc:creator>
  <cp:lastModifiedBy>Gowthami Suvvari</cp:lastModifiedBy>
  <cp:revision>2</cp:revision>
  <dcterms:created xsi:type="dcterms:W3CDTF">2025-11-28T17:51:02Z</dcterms:created>
  <dcterms:modified xsi:type="dcterms:W3CDTF">2025-12-18T09:30:15Z</dcterms:modified>
</cp:coreProperties>
</file>